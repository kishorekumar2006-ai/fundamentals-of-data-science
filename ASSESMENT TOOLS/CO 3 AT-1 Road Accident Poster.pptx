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shore kumar" userId="4e92ace39cb6af00" providerId="LiveId" clId="{5080C348-05F2-47FE-B732-5369C6B1D0A1}"/>
    <pc:docChg chg="modSld">
      <pc:chgData name="kishore kumar" userId="4e92ace39cb6af00" providerId="LiveId" clId="{5080C348-05F2-47FE-B732-5369C6B1D0A1}" dt="2026-08-20T03:29:24.406" v="57" actId="1076"/>
      <pc:docMkLst>
        <pc:docMk/>
      </pc:docMkLst>
      <pc:sldChg chg="modSp mod">
        <pc:chgData name="kishore kumar" userId="4e92ace39cb6af00" providerId="LiveId" clId="{5080C348-05F2-47FE-B732-5369C6B1D0A1}" dt="2026-08-20T03:29:24.406" v="57" actId="1076"/>
        <pc:sldMkLst>
          <pc:docMk/>
          <pc:sldMk cId="0" sldId="256"/>
        </pc:sldMkLst>
        <pc:spChg chg="mod">
          <ac:chgData name="kishore kumar" userId="4e92ace39cb6af00" providerId="LiveId" clId="{5080C348-05F2-47FE-B732-5369C6B1D0A1}" dt="2026-08-20T03:29:10.929" v="40" actId="1037"/>
          <ac:spMkLst>
            <pc:docMk/>
            <pc:sldMk cId="0" sldId="256"/>
            <ac:spMk id="6" creationId="{00000000-0000-0000-0000-000000000000}"/>
          </ac:spMkLst>
        </pc:spChg>
        <pc:spChg chg="mod">
          <ac:chgData name="kishore kumar" userId="4e92ace39cb6af00" providerId="LiveId" clId="{5080C348-05F2-47FE-B732-5369C6B1D0A1}" dt="2026-08-20T03:29:16.802" v="55" actId="1037"/>
          <ac:spMkLst>
            <pc:docMk/>
            <pc:sldMk cId="0" sldId="256"/>
            <ac:spMk id="7" creationId="{00000000-0000-0000-0000-000000000000}"/>
          </ac:spMkLst>
        </pc:spChg>
        <pc:picChg chg="mod">
          <ac:chgData name="kishore kumar" userId="4e92ace39cb6af00" providerId="LiveId" clId="{5080C348-05F2-47FE-B732-5369C6B1D0A1}" dt="2026-08-20T03:29:24.406" v="57" actId="1076"/>
          <ac:picMkLst>
            <pc:docMk/>
            <pc:sldMk cId="0" sldId="256"/>
            <ac:picMk id="8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chemeClr val="tx2"/>
          </a:solidFill>
          <a:ln w="10160">
            <a:solidFill>
              <a:srgbClr val="1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2004"/>
          </a:xfrm>
          <a:prstGeom prst="rect">
            <a:avLst/>
          </a:prstGeom>
          <a:solidFill>
            <a:srgbClr val="D3A131"/>
          </a:solidFill>
          <a:ln w="10160"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001000" cy="6217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Analysis of Road Accident Data
to Identify Key Risk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5528"/>
            <a:ext cx="80010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dirty="0">
                <a:solidFill>
                  <a:srgbClr val="DCE2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Kishore Kumar P   |   Reg. No. 192424108   |   </a:t>
            </a:r>
            <a:r>
              <a:rPr sz="1100" b="0" dirty="0" err="1">
                <a:solidFill>
                  <a:srgbClr val="DCE2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sz="1100" b="0" dirty="0">
                <a:solidFill>
                  <a:srgbClr val="DCE2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&amp;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987" y="557784"/>
            <a:ext cx="242316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Data Science • DSA0405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1314" y="813816"/>
            <a:ext cx="22860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0" dirty="0">
                <a:solidFill>
                  <a:srgbClr val="DCE2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SIMATS, Chennai</a:t>
            </a:r>
          </a:p>
        </p:txBody>
      </p:sp>
      <p:pic>
        <p:nvPicPr>
          <p:cNvPr id="8" name="Picture 7" descr="simats_logo_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964" y="238214"/>
            <a:ext cx="732983" cy="7635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5504688" cy="384048"/>
          </a:xfrm>
          <a:prstGeom prst="rect">
            <a:avLst/>
          </a:prstGeom>
          <a:solidFill>
            <a:schemeClr val="tx2"/>
          </a:solidFill>
          <a:ln w="10160">
            <a:solidFill>
              <a:srgbClr val="1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8056" y="1463195"/>
            <a:ext cx="524865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79" y="1865376"/>
            <a:ext cx="1743455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19" y="1929384"/>
            <a:ext cx="1560576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>
                <a:solidFill>
                  <a:srgbClr val="9E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" y="2194560"/>
            <a:ext cx="1560576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900" b="0" dirty="0">
                <a:solidFill>
                  <a:srgbClr val="25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 depends on interacting human, road, vehicle and environmental factors.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00655" y="1865376"/>
            <a:ext cx="1743455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5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92095" y="1929384"/>
            <a:ext cx="1560576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>
                <a:solidFill>
                  <a:srgbClr val="2E50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2094" y="2194560"/>
            <a:ext cx="1606297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dirty="0">
                <a:solidFill>
                  <a:srgbClr val="25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+ χ²/Cramér's V + classification identify measurable risk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89832" y="1865376"/>
            <a:ext cx="1743455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88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81271" y="1929384"/>
            <a:ext cx="1560576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>
                <a:solidFill>
                  <a:srgbClr val="1889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FODS?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1271" y="2194560"/>
            <a:ext cx="1560576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dirty="0">
                <a:solidFill>
                  <a:srgbClr val="25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Turns 12,316 records into evidence for targeted road-safety actions.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34640"/>
            <a:ext cx="5504688" cy="384048"/>
          </a:xfrm>
          <a:prstGeom prst="rect">
            <a:avLst/>
          </a:prstGeom>
          <a:solidFill>
            <a:schemeClr val="tx2"/>
          </a:solidFill>
          <a:ln w="10160">
            <a:solidFill>
              <a:srgbClr val="1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8056" y="2880515"/>
            <a:ext cx="524865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Data Science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79" y="3273552"/>
            <a:ext cx="260146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21207" y="3374136"/>
            <a:ext cx="301752" cy="301752"/>
          </a:xfrm>
          <a:prstGeom prst="roundRect">
            <a:avLst/>
          </a:prstGeom>
          <a:solidFill>
            <a:srgbClr val="2E507C"/>
          </a:solidFill>
          <a:ln w="10160">
            <a:solidFill>
              <a:srgbClr val="2E5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1207" y="3453454"/>
            <a:ext cx="301752" cy="1431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355848"/>
            <a:ext cx="2016251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>
                <a:solidFill>
                  <a:srgbClr val="1C2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66744"/>
            <a:ext cx="2327148" cy="4381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9" b="0" dirty="0">
                <a:solidFill>
                  <a:srgbClr val="25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duplicates; missing fields retained as “Unknown”; time/day/vehicle categories standardized.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31820" y="3273552"/>
            <a:ext cx="260146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241548" y="3374136"/>
            <a:ext cx="301752" cy="301752"/>
          </a:xfrm>
          <a:prstGeom prst="roundRect">
            <a:avLst/>
          </a:prstGeom>
          <a:solidFill>
            <a:srgbClr val="D3A131"/>
          </a:solidFill>
          <a:ln w="10160"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41548" y="3453454"/>
            <a:ext cx="301752" cy="1431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7308" y="3355848"/>
            <a:ext cx="2016251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>
                <a:solidFill>
                  <a:srgbClr val="1C2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8979" y="3715904"/>
            <a:ext cx="2327148" cy="3044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9" b="0" dirty="0">
                <a:solidFill>
                  <a:srgbClr val="25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Severity, time, weather, lighting, road, junction, vehicle and driver patterns compared.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79" y="4224528"/>
            <a:ext cx="260146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21207" y="4325112"/>
            <a:ext cx="301752" cy="301752"/>
          </a:xfrm>
          <a:prstGeom prst="roundRect">
            <a:avLst/>
          </a:prstGeom>
          <a:solidFill>
            <a:srgbClr val="188976"/>
          </a:solidFill>
          <a:ln w="10160">
            <a:solidFill>
              <a:srgbClr val="188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1207" y="4404430"/>
            <a:ext cx="301752" cy="1431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4306824"/>
            <a:ext cx="2016251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>
                <a:solidFill>
                  <a:srgbClr val="1C2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657048"/>
            <a:ext cx="2327148" cy="3044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9" b="0" dirty="0">
                <a:solidFill>
                  <a:srgbClr val="25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χ² tests + Cramér's V measure association strength; p &lt; 0.05 treated as significant.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31820" y="4224528"/>
            <a:ext cx="2601468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241548" y="4325112"/>
            <a:ext cx="301752" cy="301752"/>
          </a:xfrm>
          <a:prstGeom prst="roundRect">
            <a:avLst/>
          </a:prstGeom>
          <a:solidFill>
            <a:srgbClr val="9E3A3A"/>
          </a:solidFill>
          <a:ln w="10160">
            <a:solidFill>
              <a:srgbClr val="9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241548" y="4404430"/>
            <a:ext cx="301752" cy="1431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7308" y="4306824"/>
            <a:ext cx="2016251" cy="193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>
                <a:solidFill>
                  <a:srgbClr val="1C2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8979" y="4657048"/>
            <a:ext cx="2327148" cy="3044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9" b="0" dirty="0">
                <a:solidFill>
                  <a:srgbClr val="252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classifiers compared; macro-F1 is primary because severe outcomes are rare.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266944"/>
            <a:ext cx="5504688" cy="384048"/>
          </a:xfrm>
          <a:prstGeom prst="rect">
            <a:avLst/>
          </a:prstGeom>
          <a:solidFill>
            <a:schemeClr val="tx2"/>
          </a:solidFill>
          <a:ln w="1016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8056" y="5312819"/>
            <a:ext cx="524865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Next Steps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" y="5726896"/>
            <a:ext cx="5394960" cy="10910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171450" indent="-171450" algn="just">
              <a:spcAft>
                <a:spcPts val="140"/>
              </a:spcAft>
              <a:buFont typeface="Arial" panose="020B0604020202020204" pitchFamily="34" charset="0"/>
              <a:buChar char="•"/>
              <a:defRPr sz="905">
                <a:solidFill>
                  <a:srgbClr val="252B35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84.56% Slight, 14.15% Serious and 1.28% Fatal — a strongly imbalanced outcome.</a:t>
            </a:r>
          </a:p>
          <a:p>
            <a:pPr marL="171450" indent="-171450" algn="just">
              <a:spcAft>
                <a:spcPts val="140"/>
              </a:spcAft>
              <a:buFont typeface="Arial" panose="020B0604020202020204" pitchFamily="34" charset="0"/>
              <a:buChar char="•"/>
              <a:defRPr sz="905">
                <a:solidFill>
                  <a:srgbClr val="252B35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age, junction, time, lighting and weather are significant, but effect sizes remain small.</a:t>
            </a:r>
          </a:p>
          <a:p>
            <a:pPr marL="171450" indent="-171450" algn="just">
              <a:spcAft>
                <a:spcPts val="140"/>
              </a:spcAft>
              <a:buFont typeface="Arial" panose="020B0604020202020204" pitchFamily="34" charset="0"/>
              <a:buChar char="•"/>
              <a:defRPr sz="905">
                <a:solidFill>
                  <a:srgbClr val="252B35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81.4% accuracy and 0.480 macro-F1; rare severe cases remain difficult to detect.</a:t>
            </a:r>
          </a:p>
          <a:p>
            <a:pPr marL="171450" indent="-171450" algn="just">
              <a:spcAft>
                <a:spcPts val="140"/>
              </a:spcAft>
              <a:buFont typeface="Arial" panose="020B0604020202020204" pitchFamily="34" charset="0"/>
              <a:buChar char="•"/>
              <a:defRPr sz="905">
                <a:solidFill>
                  <a:srgbClr val="252B35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Actions: improve unlit-road lighting, strengthen following-distance awareness, and validate with local Indian data.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53328" y="1417320"/>
            <a:ext cx="5815584" cy="384048"/>
          </a:xfrm>
          <a:prstGeom prst="rect">
            <a:avLst/>
          </a:prstGeom>
          <a:solidFill>
            <a:schemeClr val="tx2"/>
          </a:solidFill>
          <a:ln w="1016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181344" y="1463195"/>
            <a:ext cx="555955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— Road Accident Severity Records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63056" y="1874519"/>
            <a:ext cx="5596128" cy="70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just">
              <a:spcAft>
                <a:spcPts val="110"/>
              </a:spcAft>
              <a:defRPr sz="935">
                <a:solidFill>
                  <a:srgbClr val="252B35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 12,316 police-recorded accidents • 32 original features • 2017–2020</a:t>
            </a:r>
          </a:p>
          <a:p>
            <a:pPr algn="just">
              <a:spcAft>
                <a:spcPts val="110"/>
              </a:spcAft>
              <a:defRPr sz="935">
                <a:solidFill>
                  <a:srgbClr val="252B35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 Driver, vehicle, road/junction, weather, lighting and severity variables</a:t>
            </a:r>
          </a:p>
          <a:p>
            <a:pPr algn="just">
              <a:spcAft>
                <a:spcPts val="110"/>
              </a:spcAft>
              <a:defRPr sz="935">
                <a:solidFill>
                  <a:srgbClr val="252B35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 Documented source: Addis Ababa Sub-city Police Department, Ethiopia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3056" y="2634648"/>
            <a:ext cx="5596128" cy="1492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30" b="1" dirty="0">
                <a:solidFill>
                  <a:srgbClr val="9E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Provenance: distributed on Kaggle under “Road Accident Severity in India,” but the documented records are Ethiopian.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53328" y="2889504"/>
            <a:ext cx="5815584" cy="384048"/>
          </a:xfrm>
          <a:prstGeom prst="rect">
            <a:avLst/>
          </a:prstGeom>
          <a:solidFill>
            <a:schemeClr val="tx2"/>
          </a:solidFill>
          <a:ln w="10160">
            <a:solidFill>
              <a:srgbClr val="1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181344" y="2935379"/>
            <a:ext cx="5559552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— Key Findings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3310128"/>
            <a:ext cx="2779776" cy="1399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Picture 51" descr="01_severit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628" y="3332988"/>
            <a:ext cx="2734056" cy="135331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8997696" y="3310128"/>
            <a:ext cx="2779776" cy="1399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Picture 53" descr="05_lighting_vs_seve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556" y="3332988"/>
            <a:ext cx="2734056" cy="135331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6144768" y="4782312"/>
            <a:ext cx="2779776" cy="1399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Picture 55" descr="13_risk_factor_ran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628" y="4805172"/>
            <a:ext cx="2734056" cy="1353312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8997696" y="4782312"/>
            <a:ext cx="2779776" cy="1399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Picture 57" descr="14_model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556" y="4805172"/>
            <a:ext cx="2734056" cy="1353312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6144768" y="6236208"/>
            <a:ext cx="1042416" cy="438912"/>
          </a:xfrm>
          <a:prstGeom prst="roundRect">
            <a:avLst/>
          </a:prstGeom>
          <a:solidFill>
            <a:schemeClr val="tx2"/>
          </a:solidFill>
          <a:ln w="10160">
            <a:solidFill>
              <a:srgbClr val="1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172200" y="6291406"/>
            <a:ext cx="98755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D3A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12,316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200" y="6553404"/>
            <a:ext cx="98755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Accidents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60336" y="6236208"/>
            <a:ext cx="1042416" cy="438912"/>
          </a:xfrm>
          <a:prstGeom prst="roundRect">
            <a:avLst/>
          </a:prstGeom>
          <a:solidFill>
            <a:schemeClr val="tx2"/>
          </a:solidFill>
          <a:ln w="10160">
            <a:solidFill>
              <a:srgbClr val="1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315200" y="6259402"/>
            <a:ext cx="9601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D3A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87768" y="6553404"/>
            <a:ext cx="98755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Fatal rate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75904" y="6236208"/>
            <a:ext cx="1042416" cy="438912"/>
          </a:xfrm>
          <a:prstGeom prst="roundRect">
            <a:avLst/>
          </a:prstGeom>
          <a:solidFill>
            <a:schemeClr val="tx2"/>
          </a:solidFill>
          <a:ln w="10160">
            <a:solidFill>
              <a:srgbClr val="1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403336" y="6291406"/>
            <a:ext cx="98755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D3A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28.12%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03336" y="6553404"/>
            <a:ext cx="98755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Unlit darkness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491472" y="6236208"/>
            <a:ext cx="1042416" cy="438912"/>
          </a:xfrm>
          <a:prstGeom prst="roundRect">
            <a:avLst/>
          </a:prstGeom>
          <a:solidFill>
            <a:schemeClr val="tx2"/>
          </a:solidFill>
          <a:ln w="10160">
            <a:solidFill>
              <a:srgbClr val="1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518904" y="6291406"/>
            <a:ext cx="98755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D3A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81.4%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18904" y="6553404"/>
            <a:ext cx="98755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 accuracy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607040" y="6236208"/>
            <a:ext cx="1042416" cy="438912"/>
          </a:xfrm>
          <a:prstGeom prst="roundRect">
            <a:avLst/>
          </a:prstGeom>
          <a:solidFill>
            <a:schemeClr val="tx2"/>
          </a:solidFill>
          <a:ln w="10160">
            <a:solidFill>
              <a:srgbClr val="1C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634472" y="6291406"/>
            <a:ext cx="98755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D3A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0.480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34472" y="6553404"/>
            <a:ext cx="987552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 macro-F1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320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kishore kumar</cp:lastModifiedBy>
  <cp:revision>2</cp:revision>
  <dcterms:created xsi:type="dcterms:W3CDTF">2013-01-27T09:14:16Z</dcterms:created>
  <dcterms:modified xsi:type="dcterms:W3CDTF">2026-08-20T03:29:32Z</dcterms:modified>
  <cp:category/>
</cp:coreProperties>
</file>